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75" r:id="rId4"/>
    <p:sldId id="260" r:id="rId5"/>
    <p:sldId id="276" r:id="rId6"/>
    <p:sldId id="262" r:id="rId7"/>
    <p:sldId id="277" r:id="rId8"/>
    <p:sldId id="281" r:id="rId9"/>
    <p:sldId id="264" r:id="rId10"/>
    <p:sldId id="279" r:id="rId11"/>
    <p:sldId id="280" r:id="rId12"/>
    <p:sldId id="265" r:id="rId13"/>
    <p:sldId id="266" r:id="rId14"/>
    <p:sldId id="282" r:id="rId15"/>
    <p:sldId id="284" r:id="rId16"/>
    <p:sldId id="268" r:id="rId17"/>
    <p:sldId id="283" r:id="rId18"/>
    <p:sldId id="285" r:id="rId19"/>
    <p:sldId id="286" r:id="rId20"/>
    <p:sldId id="271" r:id="rId21"/>
    <p:sldId id="293" r:id="rId22"/>
    <p:sldId id="273" r:id="rId23"/>
    <p:sldId id="288" r:id="rId24"/>
    <p:sldId id="289" r:id="rId25"/>
    <p:sldId id="290" r:id="rId26"/>
    <p:sldId id="291" r:id="rId27"/>
    <p:sldId id="292" r:id="rId28"/>
    <p:sldId id="274" r:id="rId29"/>
  </p:sldIdLst>
  <p:sldSz cx="14630400" cy="8229600"/>
  <p:notesSz cx="8229600" cy="14630400"/>
  <p:embeddedFontLs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Inter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1031"/>
    <a:srgbClr val="2725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3261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1A6B5-3BEA-FAAE-EE2B-02C530729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EC114-8099-4F68-4CA9-635C32630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B5A052-81CE-4253-7957-A11EFA95F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04818-598C-8CEA-08BF-145B16A36F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723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D0465-9311-1AC5-1D18-43AE70837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0D46A-1F6E-CF2C-91ED-8B6DB2F3D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B117C-B58F-18B0-9056-96CCB1AEB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E615C-8034-5C40-0C67-8B12DF791F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61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48D94-AC0F-1799-7506-23B7741C6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3C26B-7E38-87A3-D44D-FE7CDFB40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C32A1F-3C5A-3903-E37E-005E28169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D05BC-7F89-A1B0-47F0-E5F3B46AC5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768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59616-96D4-E4BF-9E77-EE103900A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FC938-FFF3-00F8-D797-80E44B753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55DF1-05D2-D7E7-9152-075184757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1E189-D8DB-5EB9-1DBE-690C14FC62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9180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98EA7-E535-6C7B-283C-20953AFBF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A10DD-0CE5-3AC3-81E3-EF1CBABB4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307D7-6E73-8EDB-4735-16ABBB4D3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8BC30-517C-93C9-40FB-EB0BEB3ABE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836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0CA0B-95C3-5F22-DDCB-E8E0576D5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95B94E-CC88-968C-26DE-B97565D16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F86FF-BB0F-7940-9BA4-828A28F00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E11EB-A1D2-741E-6929-926A831A8A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77406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2CFED-21A0-D1A3-A2B4-0504B754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A3D103-929A-ACA5-C4D3-7DFD3FFBB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F5B63-69E5-D718-0ACE-ABF6BA679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C6B54-9C83-DD3A-C49E-8D13543F5B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8664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E2CF0-303C-3301-8AAF-643C21F92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702E2-E337-1D27-CEB4-C31497965C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D20B50-5EB8-4153-0C79-8FC8FF5EF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DFB03-F54F-2783-A36A-7F3D9DEFA5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1631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DBD94-701F-DAA0-D998-5DC651FF1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C4D4B-49AA-F649-0F41-C9B8C421F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38F1F7-AE16-16C2-2E57-AD8CCC157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BBDDF-AED3-69B0-8915-42016C989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2700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A78D8-DCA9-15BC-D6F4-1A4A3BBBC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74B00-E3BD-D9EE-163A-3DC7FFD9B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0B9687-0DBD-94DB-058A-99DA37D0C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CCD6C-6A4C-75A9-8381-84D0A8C711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81186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F2E62-16FD-CE22-D36D-35707A588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1A5F0-3EDC-167B-70AF-213189E11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916972-9CFB-9B59-8058-08AE78CF3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35A0A-C7D7-C43A-A520-6A9BCAC667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08905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1C5A6-4051-9691-71D8-358C07FE5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CA850E-0596-02C2-BC03-CA9AFC255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57A618-EFD7-8923-B77E-040DA7D8E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129F4-A358-1E83-3B70-4D4A1F0351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85691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7C5B7-F236-9667-E135-CF5B44429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2354B-F17F-DF6F-FEA0-14FDE281C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055CA-44C9-F3C5-44A3-8D18B2CB6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04E8E-3F8D-0506-DBE6-0B0DEA6C05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66619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6BE8D-0EFE-BCD2-C0E3-A7CC53877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83037-EB5D-FD6C-DC3B-F2E716D93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61CE05-2AA9-EFBD-1E6B-475E107FC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87B1E-A647-8B5B-0EFA-09CFCBF716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97180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709A-5005-CDA9-651D-151BA7526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AB853-38EA-FA7B-C4CF-46334FBBB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8DB20-935E-86DC-768A-498BEC963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54F81-A4F7-3E8A-3602-F5D82A5478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94054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D6753-3809-9894-6E30-8529B5FB1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2158B-41F6-78EF-2A11-F8761600F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AEF4F2-0B31-6B4F-2706-F16B66CAB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D632B-2EDB-DCA1-7C95-95DB2FE22B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65753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DB6D2-1768-1425-A1FE-8C0A3E85B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8B784-5422-2830-6CA3-2DD1C6207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855D8-3277-2531-07C7-A72F76CE9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2C358-53A8-5D50-D38B-B48487A7A1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57735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86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281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5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35373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FinAgent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86" y="2997420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Microservices-Based  AI Financial Expense Tracking Platform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87" y="57310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fr-FR" sz="1750" i="1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Microservices</a:t>
            </a:r>
            <a:r>
              <a:rPr lang="fr-FR" sz="1750" i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 Architecture · CI/CD Automation · </a:t>
            </a:r>
            <a:r>
              <a:rPr lang="fr-FR" sz="1750" i="1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GitOps</a:t>
            </a:r>
            <a:endParaRPr lang="fr-FR" sz="1750" i="1" dirty="0">
              <a:solidFill>
                <a:srgbClr val="E5E0DF"/>
              </a:solidFill>
              <a:latin typeface="Inter" pitchFamily="34" charset="0"/>
              <a:ea typeface="Inter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E5E0DF"/>
              </a:solidFill>
              <a:latin typeface="Inter" pitchFamily="34" charset="0"/>
              <a:ea typeface="Inter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E5E0DF"/>
              </a:solidFill>
              <a:latin typeface="Inter" pitchFamily="34" charset="0"/>
              <a:ea typeface="Inter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88" y="6181418"/>
            <a:ext cx="7556421" cy="16907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93789" y="66018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Lijaz Salim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744" y="574119"/>
            <a:ext cx="7829312" cy="117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143744" y="1491555"/>
            <a:ext cx="7829312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Deploying an AI powered finance tracking microservice application demands more than running containers. This project addresses the real-world gap between a working prototype and a </a:t>
            </a:r>
            <a:r>
              <a:rPr lang="en-US" sz="14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production-grade platform</a:t>
            </a: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143744" y="2706945"/>
            <a:ext cx="7829312" cy="1052155"/>
          </a:xfrm>
          <a:prstGeom prst="roundRect">
            <a:avLst>
              <a:gd name="adj" fmla="val 749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6339126" y="2902327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Reliability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39126" y="3289042"/>
            <a:ext cx="743854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Consistent, repeatable Kubernetes deployments across environments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43744" y="3914596"/>
            <a:ext cx="7829312" cy="1052155"/>
          </a:xfrm>
          <a:prstGeom prst="roundRect">
            <a:avLst>
              <a:gd name="adj" fmla="val 749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39126" y="4109978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339126" y="4496693"/>
            <a:ext cx="743854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 pipelines that validate, build, and release without manual steps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43744" y="5122247"/>
            <a:ext cx="7829312" cy="1052155"/>
          </a:xfrm>
          <a:prstGeom prst="roundRect">
            <a:avLst>
              <a:gd name="adj" fmla="val 749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9126" y="5317629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39126" y="5704344"/>
            <a:ext cx="743854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access, encrypted secrets, and hardened container images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143744" y="6329898"/>
            <a:ext cx="7829312" cy="1052155"/>
          </a:xfrm>
          <a:prstGeom prst="roundRect">
            <a:avLst>
              <a:gd name="adj" fmla="val 749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39126" y="6525280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39126" y="6911995"/>
            <a:ext cx="743854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releases with audit trails and policy enforcement</a:t>
            </a:r>
            <a:endParaRPr lang="en-US" sz="14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B4CD38-3783-8985-3EFE-3746FC757DA4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AB223-62AA-2390-DA2C-9252BE0AC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B1D414-4171-56FD-C22B-7782612F86AA}"/>
              </a:ext>
            </a:extLst>
          </p:cNvPr>
          <p:cNvSpPr/>
          <p:nvPr/>
        </p:nvSpPr>
        <p:spPr>
          <a:xfrm>
            <a:off x="793790" y="575053"/>
            <a:ext cx="67794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Stack</a:t>
            </a:r>
            <a:endParaRPr lang="en-US" sz="44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DAA7F4-5413-2689-E051-A81D5A687836}"/>
              </a:ext>
            </a:extLst>
          </p:cNvPr>
          <p:cNvSpPr/>
          <p:nvPr/>
        </p:nvSpPr>
        <p:spPr>
          <a:xfrm>
            <a:off x="793789" y="1753249"/>
            <a:ext cx="13042821" cy="1873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Frontend: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React/Next.js served via </a:t>
            </a:r>
            <a:r>
              <a:rPr lang="en-US" sz="17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HAProxy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Services: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Python </a:t>
            </a:r>
            <a:r>
              <a:rPr lang="en-US" sz="17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RESTful APIs, </a:t>
            </a:r>
            <a:r>
              <a:rPr lang="en-US" sz="17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Langchain</a:t>
            </a:r>
            <a:r>
              <a:rPr lang="en-US" sz="175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>
              <a:solidFill>
                <a:srgbClr val="E5E0D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Communication: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HTTP REST API calls over </a:t>
            </a:r>
            <a:r>
              <a:rPr lang="en-US" sz="17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ClusterIP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</a:t>
            </a:r>
            <a:r>
              <a:rPr lang="en-US" sz="17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NetworkPolicy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Layer: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MySQL DB per service, isolated via PVCs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IN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AI Layer: </a:t>
            </a:r>
            <a:r>
              <a:rPr lang="en-IN" sz="17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Ollama</a:t>
            </a:r>
            <a:r>
              <a:rPr lang="en-IN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 serving the Llama:3.2b model for local LLM inference</a:t>
            </a:r>
            <a:endParaRPr lang="en-US" sz="1750" dirty="0">
              <a:solidFill>
                <a:srgbClr val="E5E0DF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B499BF-B89A-2D5D-E74E-D7DA910B8249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660595F-18F5-1472-B10C-5220C06C74F0}"/>
              </a:ext>
            </a:extLst>
          </p:cNvPr>
          <p:cNvSpPr/>
          <p:nvPr/>
        </p:nvSpPr>
        <p:spPr>
          <a:xfrm>
            <a:off x="793789" y="3912163"/>
            <a:ext cx="67794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Microservices</a:t>
            </a:r>
            <a:endParaRPr lang="en-US" sz="4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19E851A-0230-1AF7-D1A9-5C07C2ECAF46}"/>
              </a:ext>
            </a:extLst>
          </p:cNvPr>
          <p:cNvSpPr/>
          <p:nvPr/>
        </p:nvSpPr>
        <p:spPr>
          <a:xfrm>
            <a:off x="658884" y="5104868"/>
            <a:ext cx="13312629" cy="485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IN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Auth Service: login, registration, token validation, user/profile checks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IN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Chat Service: chat requests, conversation handling, context assembly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IN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Expense Service: create, update, list, delete expenses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IN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Insights Service: summaries, analytics, trends, recommendations</a:t>
            </a: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IN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Llama Service: model inference and response generation</a:t>
            </a:r>
          </a:p>
        </p:txBody>
      </p:sp>
    </p:spTree>
    <p:extLst>
      <p:ext uri="{BB962C8B-B14F-4D97-AF65-F5344CB8AC3E}">
        <p14:creationId xmlns:p14="http://schemas.microsoft.com/office/powerpoint/2010/main" val="3676764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0588CE-A07C-E9F1-B117-3FAAB6B0BCE4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182A45-6A6F-5FA7-3DBF-CED9CDB415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98" t="-890" r="3520" b="10090"/>
          <a:stretch>
            <a:fillRect/>
          </a:stretch>
        </p:blipFill>
        <p:spPr>
          <a:xfrm>
            <a:off x="1413346" y="950966"/>
            <a:ext cx="11803708" cy="7119289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93371FB-09DF-C9F6-D64E-BAE5C6F55447}"/>
              </a:ext>
            </a:extLst>
          </p:cNvPr>
          <p:cNvSpPr/>
          <p:nvPr/>
        </p:nvSpPr>
        <p:spPr>
          <a:xfrm>
            <a:off x="535781" y="272710"/>
            <a:ext cx="67794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Architecture</a:t>
            </a:r>
            <a:endParaRPr lang="en-US" sz="4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9A13D-3D95-0067-9B3D-980042351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47AABC-0F45-CB97-C1D4-4542CF830987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AF8347-2EAB-F41F-3D1B-D8D3C612BD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44" t="-2541" r="8894" b="13526"/>
          <a:stretch>
            <a:fillRect/>
          </a:stretch>
        </p:blipFill>
        <p:spPr>
          <a:xfrm>
            <a:off x="1408386" y="1153660"/>
            <a:ext cx="11106128" cy="6476852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3136F579-1EA2-69ED-C53C-FA073772061C}"/>
              </a:ext>
            </a:extLst>
          </p:cNvPr>
          <p:cNvSpPr/>
          <p:nvPr/>
        </p:nvSpPr>
        <p:spPr>
          <a:xfrm>
            <a:off x="535781" y="272710"/>
            <a:ext cx="67794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DB Architecture</a:t>
            </a:r>
            <a:endParaRPr lang="en-US" sz="4450" dirty="0"/>
          </a:p>
        </p:txBody>
      </p:sp>
    </p:spTree>
    <p:extLst>
      <p:ext uri="{BB962C8B-B14F-4D97-AF65-F5344CB8AC3E}">
        <p14:creationId xmlns:p14="http://schemas.microsoft.com/office/powerpoint/2010/main" val="2603145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97468"/>
            <a:ext cx="8151257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DevOps Platform Architecture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302656" y="2771537"/>
            <a:ext cx="5019675" cy="380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This Kubernetes platform was built around my project’s real needs. It provides: 	</a:t>
            </a:r>
          </a:p>
          <a:p>
            <a:pPr>
              <a:lnSpc>
                <a:spcPts val="2750"/>
              </a:lnSpc>
            </a:pPr>
            <a:endParaRPr lang="en-US" sz="1750" b="1" dirty="0">
              <a:solidFill>
                <a:srgbClr val="E5E0DF"/>
              </a:solidFill>
              <a:latin typeface="Inter" pitchFamily="34" charset="0"/>
              <a:ea typeface="Inter" pitchFamily="34" charset="-122"/>
            </a:endParaRPr>
          </a:p>
          <a:p>
            <a:pPr marL="28575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Namespace-based separation </a:t>
            </a:r>
          </a:p>
          <a:p>
            <a:pPr marL="28575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Internal </a:t>
            </a:r>
            <a:r>
              <a:rPr lang="en-US" sz="1750" b="1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ClusterIP</a:t>
            </a: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 communication</a:t>
            </a:r>
          </a:p>
          <a:p>
            <a:pPr marL="28575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Isolated gateway access</a:t>
            </a:r>
          </a:p>
          <a:p>
            <a:pPr marL="28575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Persistent, dynamic storage for databases </a:t>
            </a:r>
          </a:p>
          <a:p>
            <a:pPr marL="28575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Sealed secrets </a:t>
            </a:r>
          </a:p>
          <a:p>
            <a:pPr marL="28575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And more</a:t>
            </a:r>
          </a:p>
        </p:txBody>
      </p:sp>
      <p:sp>
        <p:nvSpPr>
          <p:cNvPr id="4" name="Shape 2"/>
          <p:cNvSpPr/>
          <p:nvPr/>
        </p:nvSpPr>
        <p:spPr>
          <a:xfrm>
            <a:off x="5553194" y="1972032"/>
            <a:ext cx="2621161" cy="2093357"/>
          </a:xfrm>
          <a:prstGeom prst="roundRect">
            <a:avLst>
              <a:gd name="adj" fmla="val 448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84056" y="2202894"/>
            <a:ext cx="2159437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VPC &amp; Subnets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784056" y="2771537"/>
            <a:ext cx="215943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network with public/private subnet separation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394144" y="1972032"/>
            <a:ext cx="2621280" cy="2093357"/>
          </a:xfrm>
          <a:prstGeom prst="roundRect">
            <a:avLst>
              <a:gd name="adj" fmla="val 448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25007" y="2202894"/>
            <a:ext cx="2159556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Worker Nodes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8625007" y="2771537"/>
            <a:ext cx="215955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general-purpose + 1 GPU node for AI workloads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11235214" y="1972032"/>
            <a:ext cx="2621161" cy="2093357"/>
          </a:xfrm>
          <a:prstGeom prst="roundRect">
            <a:avLst>
              <a:gd name="adj" fmla="val 448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66076" y="2202894"/>
            <a:ext cx="2159437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 Plane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11466076" y="2771537"/>
            <a:ext cx="215943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master node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5553194" y="4285178"/>
            <a:ext cx="4041696" cy="2447687"/>
          </a:xfrm>
          <a:prstGeom prst="roundRect">
            <a:avLst>
              <a:gd name="adj" fmla="val 383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84056" y="4516041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HAProxy Gateway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5784056" y="5084683"/>
            <a:ext cx="357997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entry point, Acts as the external load balancer, all the services are ClusterIP-only internally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814679" y="4285178"/>
            <a:ext cx="4041696" cy="2447687"/>
          </a:xfrm>
          <a:prstGeom prst="roundRect">
            <a:avLst>
              <a:gd name="adj" fmla="val 383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45541" y="4516041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KGateway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10045541" y="5084683"/>
            <a:ext cx="3579971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Acts as the Gateway API to handle all routes in the cluster. External or internal.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553194" y="6980039"/>
            <a:ext cx="83033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9A2DB-AEBD-D076-9261-2BF546459EE2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57188-44D4-18B1-238E-CE860045F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0FE37A-C7C8-DA45-3C06-F4E2E42A79E2}"/>
              </a:ext>
            </a:extLst>
          </p:cNvPr>
          <p:cNvSpPr/>
          <p:nvPr/>
        </p:nvSpPr>
        <p:spPr>
          <a:xfrm>
            <a:off x="596473" y="348615"/>
            <a:ext cx="8151257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DevOps Platform Architecture</a:t>
            </a:r>
            <a:endParaRPr lang="en-US" sz="43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5A75A1-97F4-DBE2-8DA4-F8F81886C43A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31E3D74-0DE7-1B86-BF53-907D3132C3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0" t="890" r="3135" b="7116"/>
          <a:stretch>
            <a:fillRect/>
          </a:stretch>
        </p:blipFill>
        <p:spPr>
          <a:xfrm>
            <a:off x="533685" y="1001729"/>
            <a:ext cx="13500242" cy="715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471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1398C-4439-59A2-6501-B4DD6840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15E291-A4FF-1C33-AFAB-CA2574C1774C}"/>
              </a:ext>
            </a:extLst>
          </p:cNvPr>
          <p:cNvSpPr/>
          <p:nvPr/>
        </p:nvSpPr>
        <p:spPr>
          <a:xfrm>
            <a:off x="506112" y="419695"/>
            <a:ext cx="2320409" cy="373142"/>
          </a:xfrm>
          <a:prstGeom prst="roundRect">
            <a:avLst>
              <a:gd name="adj" fmla="val 17872"/>
            </a:avLst>
          </a:prstGeom>
          <a:solidFill>
            <a:srgbClr val="0A004D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6C9144-1852-61C2-237B-2ECA1047CFBD}"/>
              </a:ext>
            </a:extLst>
          </p:cNvPr>
          <p:cNvSpPr/>
          <p:nvPr/>
        </p:nvSpPr>
        <p:spPr>
          <a:xfrm>
            <a:off x="625175" y="479227"/>
            <a:ext cx="208228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SECURITY &amp; GOVERNANCE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3D5869-9D8C-A864-1796-45D79F0617F0}"/>
              </a:ext>
            </a:extLst>
          </p:cNvPr>
          <p:cNvSpPr/>
          <p:nvPr/>
        </p:nvSpPr>
        <p:spPr>
          <a:xfrm>
            <a:off x="506112" y="1011270"/>
            <a:ext cx="7641295" cy="745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i="0" dirty="0">
                <a:solidFill>
                  <a:srgbClr val="BBBEBF"/>
                </a:solidFill>
                <a:effectLst/>
                <a:latin typeface="Segoe WPC"/>
              </a:rPr>
              <a:t>Sealed Secrets Integration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F18D76-580B-C399-7F10-00DB3981B21D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E7BA462-0064-85E0-5A9B-112307723E3F}"/>
              </a:ext>
            </a:extLst>
          </p:cNvPr>
          <p:cNvSpPr/>
          <p:nvPr/>
        </p:nvSpPr>
        <p:spPr>
          <a:xfrm>
            <a:off x="506112" y="2882802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0" i="0" dirty="0">
                <a:solidFill>
                  <a:srgbClr val="BBBEBF"/>
                </a:solidFill>
                <a:effectLst/>
                <a:latin typeface="Segoe WPC"/>
              </a:rPr>
              <a:t>Adopted </a:t>
            </a:r>
            <a:r>
              <a:rPr lang="en-US" b="1" i="0" dirty="0" err="1">
                <a:solidFill>
                  <a:srgbClr val="BBBEBF"/>
                </a:solidFill>
                <a:effectLst/>
                <a:latin typeface="Segoe WPC"/>
              </a:rPr>
              <a:t>Bitnami</a:t>
            </a:r>
            <a:r>
              <a:rPr lang="en-US" b="1" i="0" dirty="0">
                <a:solidFill>
                  <a:srgbClr val="BBBEBF"/>
                </a:solidFill>
                <a:effectLst/>
                <a:latin typeface="Segoe WPC"/>
              </a:rPr>
              <a:t> Sealed Secrets CRD</a:t>
            </a:r>
            <a:r>
              <a:rPr lang="en-US" b="0" i="0" dirty="0">
                <a:solidFill>
                  <a:srgbClr val="BBBEBF"/>
                </a:solidFill>
                <a:effectLst/>
                <a:latin typeface="Segoe WPC"/>
              </a:rPr>
              <a:t> to manage Kubernetes secrets securely in </a:t>
            </a:r>
            <a:r>
              <a:rPr lang="en-US" b="0" i="0" dirty="0" err="1">
                <a:solidFill>
                  <a:srgbClr val="BBBEBF"/>
                </a:solidFill>
                <a:effectLst/>
                <a:latin typeface="Segoe WPC"/>
              </a:rPr>
              <a:t>GitOps</a:t>
            </a:r>
            <a:r>
              <a:rPr lang="en-US" b="0" i="0" dirty="0">
                <a:solidFill>
                  <a:srgbClr val="BBBEBF"/>
                </a:solidFill>
                <a:effectLst/>
                <a:latin typeface="Segoe WPC"/>
              </a:rPr>
              <a:t> workflows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BBBEBF"/>
                </a:solidFill>
                <a:effectLst/>
                <a:latin typeface="Segoe WPC"/>
              </a:rPr>
              <a:t>Used the </a:t>
            </a:r>
            <a:r>
              <a:rPr lang="en-US" b="1" i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kubeseal</a:t>
            </a:r>
            <a:r>
              <a:rPr lang="en-US" b="1" i="0" dirty="0">
                <a:solidFill>
                  <a:srgbClr val="BBBEBF"/>
                </a:solidFill>
                <a:effectLst/>
                <a:latin typeface="Segoe WPC"/>
              </a:rPr>
              <a:t> CLI</a:t>
            </a:r>
            <a:r>
              <a:rPr lang="en-US" b="0" i="0" dirty="0">
                <a:solidFill>
                  <a:srgbClr val="BBBEBF"/>
                </a:solidFill>
                <a:effectLst/>
                <a:latin typeface="Segoe WPC"/>
              </a:rPr>
              <a:t> to encrypt secrets locally with the cluster’s </a:t>
            </a:r>
            <a:r>
              <a:rPr lang="en-US" b="1" i="0" dirty="0">
                <a:solidFill>
                  <a:srgbClr val="BBBEBF"/>
                </a:solidFill>
                <a:effectLst/>
                <a:latin typeface="Segoe WPC"/>
              </a:rPr>
              <a:t>public key</a:t>
            </a:r>
            <a:endParaRPr lang="en-US" b="0" i="0" dirty="0">
              <a:solidFill>
                <a:srgbClr val="BBBEBF"/>
              </a:solidFill>
              <a:effectLst/>
              <a:latin typeface="Segoe WPC"/>
            </a:endParaRP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BBBEBF"/>
                </a:solidFill>
                <a:effectLst/>
                <a:latin typeface="Segoe WPC"/>
              </a:rPr>
              <a:t>The encrypted output is stored as a </a:t>
            </a:r>
            <a:r>
              <a:rPr lang="en-US" b="0" i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SealedSecret</a:t>
            </a:r>
            <a:r>
              <a:rPr lang="en-US" b="0" i="0" dirty="0">
                <a:solidFill>
                  <a:srgbClr val="BBBEBF"/>
                </a:solidFill>
                <a:effectLst/>
                <a:latin typeface="Segoe WPC"/>
              </a:rPr>
              <a:t>, not as a plaintext </a:t>
            </a:r>
            <a:r>
              <a:rPr lang="en-US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Secret</a:t>
            </a:r>
            <a:endParaRPr lang="en-US" b="0" i="0" dirty="0">
              <a:solidFill>
                <a:srgbClr val="BBBEBF"/>
              </a:solidFill>
              <a:effectLst/>
              <a:latin typeface="Segoe WPC"/>
            </a:endParaRP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BBBEBF"/>
                </a:solidFill>
                <a:effectLst/>
                <a:latin typeface="Segoe WPC"/>
              </a:rPr>
              <a:t>Only the </a:t>
            </a:r>
            <a:r>
              <a:rPr lang="en-US" b="1" i="0" dirty="0">
                <a:solidFill>
                  <a:srgbClr val="BBBEBF"/>
                </a:solidFill>
                <a:effectLst/>
                <a:latin typeface="Segoe WPC"/>
              </a:rPr>
              <a:t>Sealed Secrets controller inside this specific cluster</a:t>
            </a:r>
            <a:r>
              <a:rPr lang="en-US" b="0" i="0" dirty="0">
                <a:solidFill>
                  <a:srgbClr val="BBBEBF"/>
                </a:solidFill>
                <a:effectLst/>
                <a:latin typeface="Segoe WPC"/>
              </a:rPr>
              <a:t> can decrypt and unseal those secrets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BBBEBF"/>
                </a:solidFill>
                <a:effectLst/>
                <a:latin typeface="Segoe WPC"/>
              </a:rPr>
              <a:t>This means even if the sealed manifest is copied elsewhere, it </a:t>
            </a:r>
            <a:r>
              <a:rPr lang="en-US" b="1" i="0" dirty="0">
                <a:solidFill>
                  <a:srgbClr val="BBBEBF"/>
                </a:solidFill>
                <a:effectLst/>
                <a:latin typeface="Segoe WPC"/>
              </a:rPr>
              <a:t>cannot be unsealed outside the target cluster</a:t>
            </a:r>
            <a:endParaRPr lang="en-US" b="0" i="0" dirty="0">
              <a:solidFill>
                <a:srgbClr val="BBBEBF"/>
              </a:solidFill>
              <a:effectLst/>
              <a:latin typeface="Segoe WPC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3E196C-A69E-AAC3-61F7-BF47C7D50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75" y="4870864"/>
            <a:ext cx="8916644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84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27346"/>
            <a:ext cx="2320409" cy="373142"/>
          </a:xfrm>
          <a:prstGeom prst="roundRect">
            <a:avLst>
              <a:gd name="adj" fmla="val 17872"/>
            </a:avLst>
          </a:prstGeom>
          <a:solidFill>
            <a:srgbClr val="0A004D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686878"/>
            <a:ext cx="208228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SECURITY &amp; GOVERNANCE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079784"/>
            <a:ext cx="924853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 Control and Team Governance</a:t>
            </a: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997518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Identity and access management is enforced through </a:t>
            </a: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OIDC integration with Keycloak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, providing centralized authentication across all platform tools. Headlamp leverages this integration to enforce </a:t>
            </a: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RBAC policies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at the Kubernetes cluster level, ensuring every team member operates strictly within their authorized scope.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93790" y="4173379"/>
            <a:ext cx="4215289" cy="2428875"/>
          </a:xfrm>
          <a:prstGeom prst="roundRect">
            <a:avLst>
              <a:gd name="adj" fmla="val 343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9768" y="43793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OIDC + Keycloak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99768" y="4808577"/>
            <a:ext cx="380333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Centralized identity provider for all platform services. Users authenticate once and receive scoped tokens for Headlamp, Argo CD, and Grafana.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07437" y="4173379"/>
            <a:ext cx="4215408" cy="2428875"/>
          </a:xfrm>
          <a:prstGeom prst="roundRect">
            <a:avLst>
              <a:gd name="adj" fmla="val 343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3415" y="4379357"/>
            <a:ext cx="294501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Namespace-Level RBAC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13415" y="4808577"/>
            <a:ext cx="3803452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DB Team is restricted to database namespaces only. Dev Team access is limited to application namespaces. Cross-team access is explicitly denied by default.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21203" y="4173379"/>
            <a:ext cx="4215289" cy="2428875"/>
          </a:xfrm>
          <a:prstGeom prst="roundRect">
            <a:avLst>
              <a:gd name="adj" fmla="val 343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27181" y="4379357"/>
            <a:ext cx="305085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Least Privilege by Design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827181" y="4808577"/>
            <a:ext cx="380333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No broad cluster-admin grants. Every role is scoped to the minimum verbs and resources required. Audit logs capture all privileged actions.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6CE280-8E6A-CC5E-8061-1BD2D2BDD4E3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AFC5F-BFBE-8497-1D9F-4FE6D3042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EBAE39C-EA7B-10CC-6DD1-F43706A17748}"/>
              </a:ext>
            </a:extLst>
          </p:cNvPr>
          <p:cNvSpPr/>
          <p:nvPr/>
        </p:nvSpPr>
        <p:spPr>
          <a:xfrm>
            <a:off x="625175" y="479227"/>
            <a:ext cx="208228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SECURITY &amp; GOVERNANCE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EC4416-AF05-FA0B-2E01-0367ED5E0964}"/>
              </a:ext>
            </a:extLst>
          </p:cNvPr>
          <p:cNvSpPr/>
          <p:nvPr/>
        </p:nvSpPr>
        <p:spPr>
          <a:xfrm>
            <a:off x="625175" y="836611"/>
            <a:ext cx="924853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 Control and Team Governance</a:t>
            </a: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9C88F5-00EB-5046-62DC-01BB688C8A4C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DA7495-269F-9D4F-058E-087B77DD8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470" y="1654373"/>
            <a:ext cx="10296525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838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129C6-F0EE-9505-93A5-A25A236FD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0F9ED54-AEEB-EF40-D904-51FB2673677B}"/>
              </a:ext>
            </a:extLst>
          </p:cNvPr>
          <p:cNvSpPr/>
          <p:nvPr/>
        </p:nvSpPr>
        <p:spPr>
          <a:xfrm>
            <a:off x="625175" y="479227"/>
            <a:ext cx="208228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SECURITY &amp; GOVERNANCE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A4E6B2-2573-C88E-BC61-2E3546F690C8}"/>
              </a:ext>
            </a:extLst>
          </p:cNvPr>
          <p:cNvSpPr/>
          <p:nvPr/>
        </p:nvSpPr>
        <p:spPr>
          <a:xfrm>
            <a:off x="625175" y="836611"/>
            <a:ext cx="924853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 Control and Team Governance</a:t>
            </a: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1F23F2-D517-B3D0-A58E-81FCC7B90B38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9AB6B9-F586-AC93-517B-BDB26D61E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38" y="1456689"/>
            <a:ext cx="12010490" cy="611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28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09030"/>
            <a:ext cx="2320409" cy="373142"/>
          </a:xfrm>
          <a:prstGeom prst="roundRect">
            <a:avLst>
              <a:gd name="adj" fmla="val 17872"/>
            </a:avLst>
          </a:prstGeom>
          <a:solidFill>
            <a:srgbClr val="0A004D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868561"/>
            <a:ext cx="208228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SECURITY &amp; GOVERNANCE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261467"/>
            <a:ext cx="773180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 and Workload Security</a:t>
            </a: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0915" y="2179201"/>
            <a:ext cx="6565106" cy="5241250"/>
          </a:xfrm>
          <a:prstGeom prst="roundRect">
            <a:avLst>
              <a:gd name="adj" fmla="val 2726"/>
            </a:avLst>
          </a:prstGeom>
          <a:solidFill>
            <a:srgbClr val="2B0AFF"/>
          </a:solidFill>
          <a:ln/>
        </p:spPr>
      </p:sp>
      <p:sp>
        <p:nvSpPr>
          <p:cNvPr id="6" name="Text 4"/>
          <p:cNvSpPr/>
          <p:nvPr/>
        </p:nvSpPr>
        <p:spPr>
          <a:xfrm>
            <a:off x="849273" y="2377559"/>
            <a:ext cx="304276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Network Policy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49273" y="2886075"/>
            <a:ext cx="6168390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 strict Kubernetes NetworkPolicy ensures only </a:t>
            </a: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two authorized services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can communicate with the database pod. All other ingress traffic is dropped at the network layer — defense in depth, not just application-level checks.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9273" y="4334828"/>
            <a:ext cx="6168390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Backend API service — allowed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Migration job pod — allowed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All other sources — denied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64874" y="2377559"/>
            <a:ext cx="338387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Hardened Container Images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64874" y="2886075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Base images are selected and maintained with security as a first-class concern. Each image undergoes vulnerability assessment before adoption and is pinned to specific digests to prevent drift.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64874" y="4017288"/>
            <a:ext cx="6279356" cy="179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Minimal </a:t>
            </a:r>
            <a:r>
              <a:rPr kumimoji="0" lang="en-US" sz="1550" b="0" i="0" u="none" strike="noStrike" kern="1200" cap="none" spc="0" normalizeH="0" baseline="0" noProof="0" dirty="0" err="1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distroless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or Alpine-based images where possible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Regular </a:t>
            </a:r>
            <a:r>
              <a:rPr kumimoji="0" lang="en-US" sz="1550" b="0" i="0" u="none" strike="noStrike" kern="1200" cap="none" spc="0" normalizeH="0" baseline="0" noProof="0" dirty="0" err="1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Trivy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scans integrated into CI pipeline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Images with known CVEs above threshold block promotion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80A0BA-E8ED-41EE-30DF-DC40D207B2B5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19964"/>
            <a:ext cx="2593658" cy="373142"/>
          </a:xfrm>
          <a:prstGeom prst="roundRect">
            <a:avLst>
              <a:gd name="adj" fmla="val 17872"/>
            </a:avLst>
          </a:prstGeom>
          <a:solidFill>
            <a:srgbClr val="0A004D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679496"/>
            <a:ext cx="235553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PLATFORM &amp; CONFIGURATION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072402"/>
            <a:ext cx="844891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Repository Strategy and Branching</a:t>
            </a: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99013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The project follows a </a:t>
            </a: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multi-repository structure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that separates concerns, reduces blast radius, and enables independent service lifecycles. Each microservice owns its code and CI pipeline, while Helm charts are managed in a dedicated infrastructure repository.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848457"/>
            <a:ext cx="496133" cy="4961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4592598"/>
            <a:ext cx="30162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Per-Service Repositories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3790" y="5021818"/>
            <a:ext cx="418218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Each microservice (e.g., 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highlight>
                  <a:srgbClr val="343232"/>
                </a:highligh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auth-service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highlight>
                  <a:srgbClr val="343232"/>
                </a:highligh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insights-service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) has its own repository containing application code, Dockerfile, and service-specific CI workflow. Teams own their pipelines independently.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986" y="3848457"/>
            <a:ext cx="496133" cy="4961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23986" y="4592598"/>
            <a:ext cx="346960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Dedicated Helm Charts Repo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223986" y="5021818"/>
            <a:ext cx="418230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All Helm charts live in a separate 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highlight>
                  <a:srgbClr val="343232"/>
                </a:highligh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helm-charts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repository. This centralizes environment configuration (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highlight>
                  <a:srgbClr val="343232"/>
                </a:highligh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values-test.yaml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highlight>
                  <a:srgbClr val="343232"/>
                </a:highligh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values-prod.yaml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) and enables consistent chart versioning across services.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302" y="3848457"/>
            <a:ext cx="496133" cy="4961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54302" y="4592598"/>
            <a:ext cx="27879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Trunk-Based Workflow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9"/>
          <p:cNvSpPr/>
          <p:nvPr/>
        </p:nvSpPr>
        <p:spPr>
          <a:xfrm>
            <a:off x="9654302" y="5021818"/>
            <a:ext cx="418230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Short-lived feature branches merge to 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highlight>
                  <a:srgbClr val="343232"/>
                </a:highligh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frequently. Branch protections enforce: </a:t>
            </a: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no direct pushes to main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, PR required, at least one reviewer approval, and status checks must pass before merge.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51E1EE-3175-5E4A-4A71-09548E040BE9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52918-AE7C-64E2-CE00-D2D88B429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746DC9-2C8E-DF26-4C79-3593BE87E478}"/>
              </a:ext>
            </a:extLst>
          </p:cNvPr>
          <p:cNvSpPr/>
          <p:nvPr/>
        </p:nvSpPr>
        <p:spPr>
          <a:xfrm>
            <a:off x="793790" y="1619964"/>
            <a:ext cx="2593658" cy="373142"/>
          </a:xfrm>
          <a:prstGeom prst="roundRect">
            <a:avLst>
              <a:gd name="adj" fmla="val 17872"/>
            </a:avLst>
          </a:prstGeom>
          <a:solidFill>
            <a:srgbClr val="0A004D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0CD666-D54A-9709-FF4F-2C9718CB09A7}"/>
              </a:ext>
            </a:extLst>
          </p:cNvPr>
          <p:cNvSpPr/>
          <p:nvPr/>
        </p:nvSpPr>
        <p:spPr>
          <a:xfrm>
            <a:off x="912852" y="1679496"/>
            <a:ext cx="235553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PLATFORM &amp; CONFIGURATION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2CC635-BB97-B1C4-5E99-C1F77B8E0BB1}"/>
              </a:ext>
            </a:extLst>
          </p:cNvPr>
          <p:cNvSpPr/>
          <p:nvPr/>
        </p:nvSpPr>
        <p:spPr>
          <a:xfrm>
            <a:off x="793790" y="2072402"/>
            <a:ext cx="844891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Repository Strategy and Branching</a:t>
            </a: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91EEF98-C79E-499E-5187-CEC87FF08940}"/>
              </a:ext>
            </a:extLst>
          </p:cNvPr>
          <p:cNvSpPr/>
          <p:nvPr/>
        </p:nvSpPr>
        <p:spPr>
          <a:xfrm>
            <a:off x="912852" y="3102845"/>
            <a:ext cx="30162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>
              <a:lnSpc>
                <a:spcPts val="2400"/>
              </a:lnSpc>
              <a:defRPr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</a:rPr>
              <a:t>Branching Rules – </a:t>
            </a:r>
            <a:r>
              <a:rPr lang="en-IN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</a:rPr>
              <a:t>main is the protected branch</a:t>
            </a:r>
            <a:endParaRPr lang="en-US" sz="1950" b="1" dirty="0">
              <a:solidFill>
                <a:srgbClr val="E5E0DF"/>
              </a:solidFill>
              <a:latin typeface="Inter Bold" pitchFamily="34" charset="0"/>
              <a:ea typeface="Inter Bold" pitchFamily="34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7B1A6D-0BB3-70EA-2B97-9E42D46E7E0C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2F304031-905A-11D1-ED02-134672C09F85}"/>
              </a:ext>
            </a:extLst>
          </p:cNvPr>
          <p:cNvSpPr/>
          <p:nvPr/>
        </p:nvSpPr>
        <p:spPr>
          <a:xfrm>
            <a:off x="912851" y="3513210"/>
            <a:ext cx="4111211" cy="130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500"/>
              </a:lnSpc>
              <a:buSzPct val="100000"/>
              <a:buFontTx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No direct pushes to main</a:t>
            </a:r>
          </a:p>
          <a:p>
            <a:pPr marL="342900" indent="-342900">
              <a:lnSpc>
                <a:spcPts val="2500"/>
              </a:lnSpc>
              <a:buSzPct val="100000"/>
              <a:buFontTx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Pull request required before merge</a:t>
            </a:r>
          </a:p>
          <a:p>
            <a:pPr marL="342900" indent="-342900">
              <a:lnSpc>
                <a:spcPts val="2500"/>
              </a:lnSpc>
              <a:buSzPct val="100000"/>
              <a:buFontTx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At least one approval required</a:t>
            </a:r>
          </a:p>
          <a:p>
            <a:pPr marL="342900" indent="-342900">
              <a:lnSpc>
                <a:spcPts val="2500"/>
              </a:lnSpc>
              <a:buSzPct val="100000"/>
              <a:buFontTx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Status checks must pass before merge</a:t>
            </a: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B85AAAC2-E351-C5DF-471B-FDB2C62A9623}"/>
              </a:ext>
            </a:extLst>
          </p:cNvPr>
          <p:cNvSpPr/>
          <p:nvPr/>
        </p:nvSpPr>
        <p:spPr>
          <a:xfrm>
            <a:off x="912852" y="5320350"/>
            <a:ext cx="561123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>
              <a:lnSpc>
                <a:spcPts val="2400"/>
              </a:lnSpc>
              <a:defRPr/>
            </a:pPr>
            <a:r>
              <a:rPr lang="en-IN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</a:rPr>
              <a:t>Teams</a:t>
            </a:r>
            <a:endParaRPr lang="en-US" sz="1950" b="1" dirty="0">
              <a:solidFill>
                <a:srgbClr val="E5E0DF"/>
              </a:solidFill>
              <a:latin typeface="Inter Bold" pitchFamily="34" charset="0"/>
              <a:ea typeface="Inter Bold" pitchFamily="34" charset="-122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3876D15B-5303-4D55-E0CA-930AA198FA29}"/>
              </a:ext>
            </a:extLst>
          </p:cNvPr>
          <p:cNvSpPr/>
          <p:nvPr/>
        </p:nvSpPr>
        <p:spPr>
          <a:xfrm>
            <a:off x="912852" y="5730715"/>
            <a:ext cx="6309881" cy="130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500"/>
              </a:lnSpc>
              <a:buSzPct val="100000"/>
              <a:buFontTx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Dev – Devolpoers working on the repo and </a:t>
            </a:r>
            <a:r>
              <a:rPr lang="en-US" sz="15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rasies</a:t>
            </a: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 PRs</a:t>
            </a:r>
          </a:p>
          <a:p>
            <a:pPr marL="342900" indent="-342900">
              <a:lnSpc>
                <a:spcPts val="2500"/>
              </a:lnSpc>
              <a:buSzPct val="100000"/>
              <a:buFontTx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Reviewers – approve or reject changes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782CDCB-C4DF-9755-83DA-08C3C6270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727" y="3244675"/>
            <a:ext cx="3419952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201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BAB96-B4E6-68E9-83AB-F65ED7FAA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AF226D-CC65-4287-313D-53F74B772867}"/>
              </a:ext>
            </a:extLst>
          </p:cNvPr>
          <p:cNvSpPr/>
          <p:nvPr/>
        </p:nvSpPr>
        <p:spPr>
          <a:xfrm>
            <a:off x="793790" y="578807"/>
            <a:ext cx="2593658" cy="373142"/>
          </a:xfrm>
          <a:prstGeom prst="roundRect">
            <a:avLst>
              <a:gd name="adj" fmla="val 17872"/>
            </a:avLst>
          </a:prstGeom>
          <a:solidFill>
            <a:srgbClr val="0A004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C888A5-9505-4799-60DB-332391019E9F}"/>
              </a:ext>
            </a:extLst>
          </p:cNvPr>
          <p:cNvSpPr/>
          <p:nvPr/>
        </p:nvSpPr>
        <p:spPr>
          <a:xfrm>
            <a:off x="912852" y="578807"/>
            <a:ext cx="235553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PLATFORM &amp; CONFIGURATION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F90C172-2A57-C314-DDE9-B3930D2C687C}"/>
              </a:ext>
            </a:extLst>
          </p:cNvPr>
          <p:cNvSpPr/>
          <p:nvPr/>
        </p:nvSpPr>
        <p:spPr>
          <a:xfrm>
            <a:off x="793790" y="1026599"/>
            <a:ext cx="844891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Helm Charts/</a:t>
            </a:r>
            <a:r>
              <a:rPr kumimoji="0" lang="en-US" sz="39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gitops</a:t>
            </a: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repo structure</a:t>
            </a: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DB3888-EF96-FF26-4224-2457A3F7B637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C6F7D7-1095-8D30-9267-80E395096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52" y="2109036"/>
            <a:ext cx="2886478" cy="34390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33AFB1-1D2A-EBA6-9FD4-F50A9D793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944" y="2104744"/>
            <a:ext cx="2962688" cy="40201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28ECD1-2E94-68B4-7C1C-91E0DE16F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5135" y="2109036"/>
            <a:ext cx="2896004" cy="38676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118547-67EE-1B8C-2A28-70799B2C807C}"/>
              </a:ext>
            </a:extLst>
          </p:cNvPr>
          <p:cNvSpPr txBox="1"/>
          <p:nvPr/>
        </p:nvSpPr>
        <p:spPr>
          <a:xfrm>
            <a:off x="747020" y="5725288"/>
            <a:ext cx="3681142" cy="1662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  <a:buSzPct val="100000"/>
            </a:pPr>
            <a:r>
              <a:rPr lang="en-IN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/apps directory:</a:t>
            </a:r>
          </a:p>
          <a:p>
            <a:pPr marL="342900" indent="-342900">
              <a:lnSpc>
                <a:spcPts val="2500"/>
              </a:lnSpc>
              <a:buSzPct val="100000"/>
              <a:buFontTx/>
              <a:buChar char="•"/>
            </a:pPr>
            <a:r>
              <a:rPr lang="en-IN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Contains all </a:t>
            </a:r>
            <a:r>
              <a:rPr lang="en-IN" sz="15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microsrvice</a:t>
            </a:r>
            <a:r>
              <a:rPr lang="en-IN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 Charts</a:t>
            </a:r>
          </a:p>
          <a:p>
            <a:pPr marL="342900" indent="-342900">
              <a:lnSpc>
                <a:spcPts val="2500"/>
              </a:lnSpc>
              <a:buSzPct val="100000"/>
              <a:buFontTx/>
              <a:buChar char="•"/>
            </a:pPr>
            <a:r>
              <a:rPr lang="en-IN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Every chart has </a:t>
            </a:r>
            <a:r>
              <a:rPr lang="en-IN" sz="15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values,values</a:t>
            </a:r>
            <a:r>
              <a:rPr lang="en-IN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-</a:t>
            </a:r>
            <a:r>
              <a:rPr lang="en-IN" sz="15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test,values</a:t>
            </a:r>
            <a:r>
              <a:rPr lang="en-IN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-prod</a:t>
            </a:r>
          </a:p>
          <a:p>
            <a:pPr>
              <a:lnSpc>
                <a:spcPts val="2500"/>
              </a:lnSpc>
              <a:buSzPct val="100000"/>
            </a:pPr>
            <a:endParaRPr lang="en-IN" sz="1550" dirty="0">
              <a:solidFill>
                <a:srgbClr val="E5E0DF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957655-835B-2884-0F0A-1A3E6F3E06C2}"/>
              </a:ext>
            </a:extLst>
          </p:cNvPr>
          <p:cNvSpPr txBox="1"/>
          <p:nvPr/>
        </p:nvSpPr>
        <p:spPr>
          <a:xfrm>
            <a:off x="5270217" y="6166300"/>
            <a:ext cx="3681142" cy="1662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  <a:buSzPct val="100000"/>
            </a:pPr>
            <a:r>
              <a:rPr lang="en-IN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/infra directory:</a:t>
            </a:r>
          </a:p>
          <a:p>
            <a:pPr marL="342900" indent="-342900">
              <a:lnSpc>
                <a:spcPts val="2500"/>
              </a:lnSpc>
              <a:buSzPct val="100000"/>
              <a:buFontTx/>
              <a:buChar char="•"/>
            </a:pPr>
            <a:r>
              <a:rPr lang="en-IN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Contains all infrastructure Charts</a:t>
            </a:r>
          </a:p>
          <a:p>
            <a:pPr marL="342900" indent="-342900">
              <a:lnSpc>
                <a:spcPts val="2500"/>
              </a:lnSpc>
              <a:buSzPct val="100000"/>
              <a:buFontTx/>
              <a:buChar char="•"/>
            </a:pPr>
            <a:r>
              <a:rPr lang="en-IN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Every chart has </a:t>
            </a:r>
            <a:r>
              <a:rPr lang="en-IN" sz="15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values,values</a:t>
            </a:r>
            <a:r>
              <a:rPr lang="en-IN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-</a:t>
            </a:r>
            <a:r>
              <a:rPr lang="en-IN" sz="15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test,values</a:t>
            </a:r>
            <a:r>
              <a:rPr lang="en-IN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-prod</a:t>
            </a:r>
          </a:p>
          <a:p>
            <a:pPr>
              <a:lnSpc>
                <a:spcPts val="2500"/>
              </a:lnSpc>
              <a:buSzPct val="100000"/>
            </a:pPr>
            <a:endParaRPr lang="en-IN" sz="1550" dirty="0">
              <a:solidFill>
                <a:srgbClr val="E5E0DF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AE8A47-EFF7-7B9F-CC48-2689F7BE5B46}"/>
              </a:ext>
            </a:extLst>
          </p:cNvPr>
          <p:cNvSpPr txBox="1"/>
          <p:nvPr/>
        </p:nvSpPr>
        <p:spPr>
          <a:xfrm>
            <a:off x="9793414" y="6124855"/>
            <a:ext cx="3681142" cy="1662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  <a:buSzPct val="100000"/>
            </a:pPr>
            <a:r>
              <a:rPr lang="en-IN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/env directory:</a:t>
            </a:r>
          </a:p>
          <a:p>
            <a:pPr marL="342900" indent="-342900">
              <a:lnSpc>
                <a:spcPts val="2500"/>
              </a:lnSpc>
              <a:buSzPct val="100000"/>
              <a:buFontTx/>
              <a:buChar char="•"/>
            </a:pPr>
            <a:r>
              <a:rPr lang="en-IN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Contains </a:t>
            </a:r>
            <a:r>
              <a:rPr lang="en-IN" sz="15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argocd</a:t>
            </a:r>
            <a:r>
              <a:rPr lang="en-IN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 application </a:t>
            </a:r>
            <a:r>
              <a:rPr lang="en-IN" sz="1550" dirty="0" err="1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yamls</a:t>
            </a:r>
            <a:r>
              <a:rPr lang="en-IN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 for test env and prod env</a:t>
            </a:r>
          </a:p>
          <a:p>
            <a:pPr marL="342900" indent="-342900">
              <a:lnSpc>
                <a:spcPts val="2500"/>
              </a:lnSpc>
              <a:buSzPct val="100000"/>
              <a:buFontTx/>
              <a:buChar char="•"/>
            </a:pPr>
            <a:r>
              <a:rPr lang="en-IN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./test contains ./apps and ./infra and ./root</a:t>
            </a:r>
          </a:p>
        </p:txBody>
      </p:sp>
    </p:spTree>
    <p:extLst>
      <p:ext uri="{BB962C8B-B14F-4D97-AF65-F5344CB8AC3E}">
        <p14:creationId xmlns:p14="http://schemas.microsoft.com/office/powerpoint/2010/main" val="3499773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4260" y="546497"/>
            <a:ext cx="1822252" cy="342067"/>
          </a:xfrm>
          <a:prstGeom prst="roundRect">
            <a:avLst>
              <a:gd name="adj" fmla="val 18277"/>
            </a:avLst>
          </a:prstGeom>
          <a:solidFill>
            <a:srgbClr val="0A004D"/>
          </a:solidFill>
          <a:ln/>
        </p:spPr>
      </p:sp>
      <p:sp>
        <p:nvSpPr>
          <p:cNvPr id="3" name="Text 1"/>
          <p:cNvSpPr/>
          <p:nvPr/>
        </p:nvSpPr>
        <p:spPr>
          <a:xfrm>
            <a:off x="855821" y="602218"/>
            <a:ext cx="1599128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AUTOMATION &amp; CI/CD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4260" y="958334"/>
            <a:ext cx="6574393" cy="581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CI/CD Architecture Overview</a:t>
            </a:r>
            <a:endParaRPr kumimoji="0" lang="en-US" sz="3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4260" y="1801297"/>
            <a:ext cx="13141881" cy="865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The end-to-end pipeline is designed as a </a:t>
            </a: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controlled, stage-gated automation flow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— from pull request validation through build, scan, test deployment, and manual production promotion. Each stage has clear entry criteria and failure handling, ensuring nothing reaches production without explicit approval.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19" y="3124245"/>
            <a:ext cx="6570940" cy="7442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7494" y="4042931"/>
            <a:ext cx="23257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 Validation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27494" y="4438218"/>
            <a:ext cx="619898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SonarQube + Snyk sequential scan on every PR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459" y="3124245"/>
            <a:ext cx="6570940" cy="7442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98435" y="4042931"/>
            <a:ext cx="23257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&amp; Scan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9"/>
          <p:cNvSpPr/>
          <p:nvPr/>
        </p:nvSpPr>
        <p:spPr>
          <a:xfrm>
            <a:off x="7398435" y="4438218"/>
            <a:ext cx="619898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Docker build, Trivy scan, Update in test cluster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19" y="4912563"/>
            <a:ext cx="6570940" cy="7442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7494" y="5831250"/>
            <a:ext cx="23257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GitOps Sync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27494" y="6226537"/>
            <a:ext cx="619898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Argo CD auto-applies changes to test cluster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459" y="4912563"/>
            <a:ext cx="6570940" cy="7442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398435" y="5831250"/>
            <a:ext cx="23257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Manual Promotion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7398435" y="6226537"/>
            <a:ext cx="619898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Release publish triggers SHA retag and prod update is manual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4A4B34-C494-E827-21BC-C9A73468DCBA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818DD-03B3-071B-48DA-754459FC6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7E13C2-61EF-3CBF-E281-5E7DC0709675}"/>
              </a:ext>
            </a:extLst>
          </p:cNvPr>
          <p:cNvSpPr/>
          <p:nvPr/>
        </p:nvSpPr>
        <p:spPr>
          <a:xfrm>
            <a:off x="682228" y="497205"/>
            <a:ext cx="1670566" cy="305038"/>
          </a:xfrm>
          <a:prstGeom prst="roundRect">
            <a:avLst>
              <a:gd name="adj" fmla="val 18788"/>
            </a:avLst>
          </a:prstGeom>
          <a:solidFill>
            <a:srgbClr val="0A004D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4695C7-2500-EF5B-0D4F-4553D83D45B0}"/>
              </a:ext>
            </a:extLst>
          </p:cNvPr>
          <p:cNvSpPr/>
          <p:nvPr/>
        </p:nvSpPr>
        <p:spPr>
          <a:xfrm>
            <a:off x="784503" y="548283"/>
            <a:ext cx="146601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AUTOMATION &amp; CI/CD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B16A59-011E-B6B1-A9BE-8FDBD0FA1EA2}"/>
              </a:ext>
            </a:extLst>
          </p:cNvPr>
          <p:cNvSpPr/>
          <p:nvPr/>
        </p:nvSpPr>
        <p:spPr>
          <a:xfrm>
            <a:off x="682228" y="860822"/>
            <a:ext cx="5856565" cy="532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 Pipeline</a:t>
            </a:r>
            <a:endParaRPr kumimoji="0" lang="en-US" sz="3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EEC14E-AE27-7DAD-3776-0CE8F3D36AE9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2927709-2DF4-EF9B-8F0C-BBE759E1CD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151" b="6493"/>
          <a:stretch>
            <a:fillRect/>
          </a:stretch>
        </p:blipFill>
        <p:spPr>
          <a:xfrm>
            <a:off x="1109609" y="1393746"/>
            <a:ext cx="12267344" cy="684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753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041D6-2BB2-412A-440D-2C9CFE3B4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19E14E-1696-9135-8CB3-DF6B43571455}"/>
              </a:ext>
            </a:extLst>
          </p:cNvPr>
          <p:cNvSpPr/>
          <p:nvPr/>
        </p:nvSpPr>
        <p:spPr>
          <a:xfrm>
            <a:off x="793790" y="590669"/>
            <a:ext cx="1944886" cy="373142"/>
          </a:xfrm>
          <a:prstGeom prst="roundRect">
            <a:avLst>
              <a:gd name="adj" fmla="val 17872"/>
            </a:avLst>
          </a:prstGeom>
          <a:solidFill>
            <a:srgbClr val="0A004D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BE08F0-B721-A1FB-8C0C-3BDCCF58C6D3}"/>
              </a:ext>
            </a:extLst>
          </p:cNvPr>
          <p:cNvSpPr/>
          <p:nvPr/>
        </p:nvSpPr>
        <p:spPr>
          <a:xfrm>
            <a:off x="912852" y="672061"/>
            <a:ext cx="170676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AUTOMATION &amp; CI/CD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3D4B05-1948-406F-2C58-6A19C7635394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D683FA8-BEB2-6F84-14F5-941121E95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758" y="2607005"/>
            <a:ext cx="6715553" cy="32526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BD3AE27-084B-8E9F-3DB8-C3B0DA09E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45" y="2607005"/>
            <a:ext cx="6525799" cy="3252628"/>
          </a:xfrm>
          <a:prstGeom prst="rect">
            <a:avLst/>
          </a:prstGeom>
        </p:spPr>
      </p:pic>
      <p:sp>
        <p:nvSpPr>
          <p:cNvPr id="21" name="Text 2">
            <a:extLst>
              <a:ext uri="{FF2B5EF4-FFF2-40B4-BE49-F238E27FC236}">
                <a16:creationId xmlns:a16="http://schemas.microsoft.com/office/drawing/2014/main" id="{7008711B-0F72-5C98-2B1A-A126DF63A283}"/>
              </a:ext>
            </a:extLst>
          </p:cNvPr>
          <p:cNvSpPr/>
          <p:nvPr/>
        </p:nvSpPr>
        <p:spPr>
          <a:xfrm>
            <a:off x="2092859" y="1898512"/>
            <a:ext cx="2821260" cy="532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 Validation</a:t>
            </a:r>
            <a:endParaRPr kumimoji="0" lang="en-US" sz="3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AC77E967-971C-A075-9CC2-36B40422B0AD}"/>
              </a:ext>
            </a:extLst>
          </p:cNvPr>
          <p:cNvSpPr/>
          <p:nvPr/>
        </p:nvSpPr>
        <p:spPr>
          <a:xfrm>
            <a:off x="9716281" y="1898512"/>
            <a:ext cx="2821260" cy="532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Gated Build</a:t>
            </a:r>
            <a:endParaRPr kumimoji="0" lang="en-US" sz="3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0023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9B757-C71A-5427-9FFA-B49F4ACF7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CF7D04-E9AC-0388-B926-7C1443C64AB4}"/>
              </a:ext>
            </a:extLst>
          </p:cNvPr>
          <p:cNvSpPr/>
          <p:nvPr/>
        </p:nvSpPr>
        <p:spPr>
          <a:xfrm>
            <a:off x="793790" y="590669"/>
            <a:ext cx="1944886" cy="373142"/>
          </a:xfrm>
          <a:prstGeom prst="roundRect">
            <a:avLst>
              <a:gd name="adj" fmla="val 17872"/>
            </a:avLst>
          </a:prstGeom>
          <a:solidFill>
            <a:srgbClr val="0A004D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ED5555-3977-60F3-5475-6E2922E23A9E}"/>
              </a:ext>
            </a:extLst>
          </p:cNvPr>
          <p:cNvSpPr/>
          <p:nvPr/>
        </p:nvSpPr>
        <p:spPr>
          <a:xfrm>
            <a:off x="912852" y="672061"/>
            <a:ext cx="170676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AUTOMATION &amp; CI/CD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B2EBBC-75A3-5AB7-7FF1-88A1EC2ACA47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E3F0267-58E0-C602-2943-6E5BA17E997F}"/>
              </a:ext>
            </a:extLst>
          </p:cNvPr>
          <p:cNvSpPr/>
          <p:nvPr/>
        </p:nvSpPr>
        <p:spPr>
          <a:xfrm>
            <a:off x="682228" y="982152"/>
            <a:ext cx="5856565" cy="532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Failure Notifications</a:t>
            </a:r>
            <a:endParaRPr kumimoji="0" lang="en-US" sz="3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FCBF68-DC2A-DCB5-64DD-31A3EE9A2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9448" r="19448" b="5337"/>
          <a:stretch>
            <a:fillRect/>
          </a:stretch>
        </p:blipFill>
        <p:spPr>
          <a:xfrm>
            <a:off x="-1428109" y="2548722"/>
            <a:ext cx="9298113" cy="44479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C798E1-C533-E20C-73CD-5976C1E120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296" b="13397"/>
          <a:stretch>
            <a:fillRect/>
          </a:stretch>
        </p:blipFill>
        <p:spPr>
          <a:xfrm>
            <a:off x="8403832" y="2548722"/>
            <a:ext cx="5947897" cy="3782923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4C493E97-BEAA-CDCF-C46E-F71E61AFF79C}"/>
              </a:ext>
            </a:extLst>
          </p:cNvPr>
          <p:cNvSpPr/>
          <p:nvPr/>
        </p:nvSpPr>
        <p:spPr>
          <a:xfrm>
            <a:off x="2417173" y="2044269"/>
            <a:ext cx="3167509" cy="532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Slack notifications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CF591248-F104-AB4A-CDC9-CD831F469954}"/>
              </a:ext>
            </a:extLst>
          </p:cNvPr>
          <p:cNvSpPr/>
          <p:nvPr/>
        </p:nvSpPr>
        <p:spPr>
          <a:xfrm>
            <a:off x="10038885" y="2015798"/>
            <a:ext cx="3167509" cy="532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Mail notifications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6854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63811"/>
            <a:ext cx="1944886" cy="373142"/>
          </a:xfrm>
          <a:prstGeom prst="roundRect">
            <a:avLst>
              <a:gd name="adj" fmla="val 17872"/>
            </a:avLst>
          </a:prstGeom>
          <a:solidFill>
            <a:srgbClr val="0A004D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023342"/>
            <a:ext cx="170676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AUTOMATION &amp; CI/CD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416248"/>
            <a:ext cx="992683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Release Workflow and Manual Promotion</a:t>
            </a: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532340"/>
            <a:ext cx="443388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Manual Promotion is Intentional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040856"/>
            <a:ext cx="695563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Production deployments are </a:t>
            </a: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never automated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in this architecture. When a release is published (Git tag created), the workflow retags the immutable SHA to a semantic version (e.g., 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highlight>
                  <a:srgbClr val="343232"/>
                </a:highligh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v1.0.0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), then updates 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highlight>
                  <a:srgbClr val="343232"/>
                </a:highligh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values-prod.yaml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in the Helm repo. Argo CD detects the change but requires </a:t>
            </a: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manual approval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in the Argo CD UI before syncing to production.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93790" y="4851797"/>
            <a:ext cx="3378637" cy="2190631"/>
          </a:xfrm>
          <a:prstGeom prst="roundRect">
            <a:avLst>
              <a:gd name="adj" fmla="val 380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9768" y="5057775"/>
            <a:ext cx="258865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 → SemVer Retag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99768" y="5566291"/>
            <a:ext cx="296668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Immutable build artifact receives a human-readable version tag at release time.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70784" y="4851797"/>
            <a:ext cx="3378637" cy="2190631"/>
          </a:xfrm>
          <a:prstGeom prst="roundRect">
            <a:avLst>
              <a:gd name="adj" fmla="val 380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6763" y="505777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Manual Gate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6763" y="5566291"/>
            <a:ext cx="2966680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Engineer reviews test results, confirms readiness, and approves Argo CD sync explicitly.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98274" y="2333982"/>
            <a:ext cx="5888712" cy="4931688"/>
          </a:xfrm>
          <a:prstGeom prst="roundRect">
            <a:avLst>
              <a:gd name="adj" fmla="val 2898"/>
            </a:avLst>
          </a:prstGeom>
          <a:solidFill>
            <a:srgbClr val="2B0A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96632" y="2532340"/>
            <a:ext cx="25282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Release Trigger Flow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96632" y="3040856"/>
            <a:ext cx="5491996" cy="2252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Git tag published (e.g., 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highlight>
                  <a:srgbClr val="3817FF"/>
                </a:highligh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v1.0.0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eriod" startAt="2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Workflow captures commit SHA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eriod" startAt="3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Image retagged with semantic version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eriod" startAt="4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highlight>
                  <a:srgbClr val="3817FF"/>
                </a:highligh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values-prod.yaml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updated in Helm repo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eriod" startAt="5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Argo CD detects change, waits for approval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eriod" startAt="6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Engineer approves → production sync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BE09C-0032-062A-ED73-4D229D0C5D68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DF189D9-0B8A-C0F1-281E-7A822AD76D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381"/>
          <a:stretch>
            <a:fillRect/>
          </a:stretch>
        </p:blipFill>
        <p:spPr>
          <a:xfrm>
            <a:off x="8042255" y="5212854"/>
            <a:ext cx="6000750" cy="292100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BB4EA-AE44-B01B-462B-53DB676BF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BD5D3D-FE5A-C96A-6D91-536D2F5BC560}"/>
              </a:ext>
            </a:extLst>
          </p:cNvPr>
          <p:cNvSpPr/>
          <p:nvPr/>
        </p:nvSpPr>
        <p:spPr>
          <a:xfrm>
            <a:off x="793790" y="963811"/>
            <a:ext cx="1944886" cy="373142"/>
          </a:xfrm>
          <a:prstGeom prst="roundRect">
            <a:avLst>
              <a:gd name="adj" fmla="val 17872"/>
            </a:avLst>
          </a:prstGeom>
          <a:solidFill>
            <a:srgbClr val="0A004D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7FC4C3-06AA-44C7-FF7F-98BE84CAF79F}"/>
              </a:ext>
            </a:extLst>
          </p:cNvPr>
          <p:cNvSpPr/>
          <p:nvPr/>
        </p:nvSpPr>
        <p:spPr>
          <a:xfrm>
            <a:off x="912852" y="1023342"/>
            <a:ext cx="170676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AUTOMATION &amp; CI/CD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EEEA83-7592-B6E7-3927-3CA21E48294D}"/>
              </a:ext>
            </a:extLst>
          </p:cNvPr>
          <p:cNvSpPr/>
          <p:nvPr/>
        </p:nvSpPr>
        <p:spPr>
          <a:xfrm>
            <a:off x="793790" y="1416248"/>
            <a:ext cx="992683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Helm/</a:t>
            </a:r>
            <a:r>
              <a:rPr kumimoji="0" lang="en-US" sz="39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gitops</a:t>
            </a: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repo CI</a:t>
            </a: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B958C92-6D99-0C6A-E28D-1AF55C2F35CC}"/>
              </a:ext>
            </a:extLst>
          </p:cNvPr>
          <p:cNvSpPr/>
          <p:nvPr/>
        </p:nvSpPr>
        <p:spPr>
          <a:xfrm>
            <a:off x="793790" y="2546039"/>
            <a:ext cx="10898201" cy="222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BBBEBF"/>
                </a:solidFill>
                <a:latin typeface="Segoe WPC"/>
              </a:rPr>
              <a:t>The Helm repo uses a dedicated CI pipeline for configuration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BBBEBF"/>
                </a:solidFill>
                <a:latin typeface="Segoe WPC"/>
              </a:rPr>
              <a:t>On PRs, rendered manifests are checked using </a:t>
            </a:r>
            <a:r>
              <a:rPr lang="en-US" dirty="0" err="1">
                <a:solidFill>
                  <a:srgbClr val="BBBEBF"/>
                </a:solidFill>
                <a:latin typeface="Segoe WPC"/>
              </a:rPr>
              <a:t>Kyverno</a:t>
            </a:r>
            <a:r>
              <a:rPr lang="en-US" dirty="0">
                <a:solidFill>
                  <a:srgbClr val="BBBEBF"/>
                </a:solidFill>
                <a:latin typeface="Segoe WPC"/>
              </a:rPr>
              <a:t> CLI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BBBEBF"/>
                </a:solidFill>
                <a:latin typeface="Segoe WPC"/>
              </a:rPr>
              <a:t>Policy checks help catch invalid or non-compliant Kubernetes configuration early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BBBEBF"/>
                </a:solidFill>
                <a:latin typeface="Segoe WPC"/>
              </a:rPr>
              <a:t>This is especially important when promoting env/prod changes into 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BBBEBF"/>
                </a:solidFill>
                <a:latin typeface="Segoe WPC"/>
              </a:rPr>
              <a:t>It strengthens </a:t>
            </a:r>
            <a:r>
              <a:rPr lang="en-US" dirty="0" err="1">
                <a:solidFill>
                  <a:srgbClr val="BBBEBF"/>
                </a:solidFill>
                <a:latin typeface="Segoe WPC"/>
              </a:rPr>
              <a:t>GitOps</a:t>
            </a:r>
            <a:r>
              <a:rPr lang="en-US" dirty="0">
                <a:solidFill>
                  <a:srgbClr val="BBBEBF"/>
                </a:solidFill>
                <a:latin typeface="Segoe WPC"/>
              </a:rPr>
              <a:t> governance by validating infrastructure and application manifests before merge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BBBEBF"/>
                </a:solidFill>
                <a:latin typeface="Segoe WPC"/>
              </a:rPr>
              <a:t>This reduces the risk of pushing unsafe configuration to production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F89B0F-B91F-FD57-F9EA-1B344666CDCA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F398F48-0295-C8D3-ABD2-1299FC335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21" y="4537914"/>
            <a:ext cx="5753903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62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27973"/>
            <a:ext cx="2501979" cy="373142"/>
          </a:xfrm>
          <a:prstGeom prst="roundRect">
            <a:avLst>
              <a:gd name="adj" fmla="val 17872"/>
            </a:avLst>
          </a:prstGeom>
          <a:solidFill>
            <a:srgbClr val="0A004D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987504"/>
            <a:ext cx="226385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PLATFORM &amp; OBSERVABILITY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380411"/>
            <a:ext cx="90675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Observability and Additional Controls</a:t>
            </a: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29814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The platform provides </a:t>
            </a: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full-stack observability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and policy enforcement across all layers — from application metrics to cluster-level compliance checks.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156466"/>
            <a:ext cx="496133" cy="4961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3900607"/>
            <a:ext cx="304347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Grafana + Loki + Promtail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3790" y="4329827"/>
            <a:ext cx="418218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Grafana provides unified dashboards. Loki aggregates logs via Promtail agents. Prometheus scrapes metrics from all workloads. Engineers have full operational visibility without SSH access.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3986" y="3156466"/>
            <a:ext cx="496133" cy="4961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23986" y="3900607"/>
            <a:ext cx="343102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Kyverno Policy Enforcement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223986" y="4329827"/>
            <a:ext cx="418230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Kyverno validates Helm repo PRs against cluster policies — rejecting manifests that violate security standards (e.g., missing resource limits, privileged containers, missing network policies).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4302" y="3156466"/>
            <a:ext cx="496133" cy="4961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54302" y="3900607"/>
            <a:ext cx="335113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Domain &amp; Subdomain Setup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9"/>
          <p:cNvSpPr/>
          <p:nvPr/>
        </p:nvSpPr>
        <p:spPr>
          <a:xfrm>
            <a:off x="9654302" y="4329827"/>
            <a:ext cx="41823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All platform tools are exposed via dedicated subdomains with TLS: 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highlight>
                  <a:srgbClr val="343232"/>
                </a:highligh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sonarqube.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highlight>
                  <a:srgbClr val="343232"/>
                </a:highligh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headlamp.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highlight>
                  <a:srgbClr val="343232"/>
                </a:highligh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grafana.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highlight>
                  <a:srgbClr val="343232"/>
                </a:highligh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argocd.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highlight>
                  <a:srgbClr val="343232"/>
                </a:highligh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keycloak.</a:t>
            </a: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— accessible securely from a single domain.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F89565-0443-D3AA-E77E-F7927CA9AAD8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B4AD-AEE9-FAE7-4013-1FEFB023B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13AC46-8C02-D04F-2CEF-D56E17A15733}"/>
              </a:ext>
            </a:extLst>
          </p:cNvPr>
          <p:cNvSpPr/>
          <p:nvPr/>
        </p:nvSpPr>
        <p:spPr>
          <a:xfrm>
            <a:off x="793790" y="373169"/>
            <a:ext cx="2501979" cy="373142"/>
          </a:xfrm>
          <a:prstGeom prst="roundRect">
            <a:avLst>
              <a:gd name="adj" fmla="val 17872"/>
            </a:avLst>
          </a:prstGeom>
          <a:solidFill>
            <a:srgbClr val="0A004D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3931E7-D4C7-1C3C-D673-76721BE76600}"/>
              </a:ext>
            </a:extLst>
          </p:cNvPr>
          <p:cNvSpPr/>
          <p:nvPr/>
        </p:nvSpPr>
        <p:spPr>
          <a:xfrm>
            <a:off x="912852" y="432700"/>
            <a:ext cx="226385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PLATFORM &amp; OBSERVABILITY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BE146A-4200-2A67-D5DE-096AE28940AA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BEC345E-5AEC-70D4-D965-2D2E25770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95" y="1517985"/>
            <a:ext cx="12863245" cy="6544819"/>
          </a:xfrm>
          <a:prstGeom prst="rect">
            <a:avLst/>
          </a:prstGeom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0F5A3EB8-C972-F856-FEC8-0A05F5E0B724}"/>
              </a:ext>
            </a:extLst>
          </p:cNvPr>
          <p:cNvSpPr/>
          <p:nvPr/>
        </p:nvSpPr>
        <p:spPr>
          <a:xfrm>
            <a:off x="912852" y="883146"/>
            <a:ext cx="90675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Grafana – k8s dashboard</a:t>
            </a: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42392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CDE6C-9F8C-9641-7A1E-6F52848F0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01FC2E-D805-3D2B-945F-FE714333F16A}"/>
              </a:ext>
            </a:extLst>
          </p:cNvPr>
          <p:cNvSpPr/>
          <p:nvPr/>
        </p:nvSpPr>
        <p:spPr>
          <a:xfrm>
            <a:off x="793790" y="373169"/>
            <a:ext cx="2501979" cy="373142"/>
          </a:xfrm>
          <a:prstGeom prst="roundRect">
            <a:avLst>
              <a:gd name="adj" fmla="val 17872"/>
            </a:avLst>
          </a:prstGeom>
          <a:solidFill>
            <a:srgbClr val="0A004D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9CFD8B-B912-426F-F50E-37168D36DD0A}"/>
              </a:ext>
            </a:extLst>
          </p:cNvPr>
          <p:cNvSpPr/>
          <p:nvPr/>
        </p:nvSpPr>
        <p:spPr>
          <a:xfrm>
            <a:off x="912852" y="432700"/>
            <a:ext cx="226385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PLATFORM &amp; OBSERVABILITY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2871CC-6C70-9C0D-C10E-23EFDC93C127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01A9466B-2004-B1D6-DF48-8875347462E1}"/>
              </a:ext>
            </a:extLst>
          </p:cNvPr>
          <p:cNvSpPr/>
          <p:nvPr/>
        </p:nvSpPr>
        <p:spPr>
          <a:xfrm>
            <a:off x="912852" y="883146"/>
            <a:ext cx="90675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Grafana – Loki Logs dashboard</a:t>
            </a: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A94F5C-D5AD-EE4D-964E-C4943C43A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42" y="1886736"/>
            <a:ext cx="13233115" cy="545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514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3D535-AB75-0783-302F-A2B4A6241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9A4C1EF-E970-8B68-7632-70878FE7F9D8}"/>
              </a:ext>
            </a:extLst>
          </p:cNvPr>
          <p:cNvSpPr/>
          <p:nvPr/>
        </p:nvSpPr>
        <p:spPr>
          <a:xfrm>
            <a:off x="793790" y="373169"/>
            <a:ext cx="2501979" cy="373142"/>
          </a:xfrm>
          <a:prstGeom prst="roundRect">
            <a:avLst>
              <a:gd name="adj" fmla="val 17872"/>
            </a:avLst>
          </a:prstGeom>
          <a:solidFill>
            <a:srgbClr val="0A004D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8444AA-943B-A7B8-8A04-E2DD4E3AF7DD}"/>
              </a:ext>
            </a:extLst>
          </p:cNvPr>
          <p:cNvSpPr/>
          <p:nvPr/>
        </p:nvSpPr>
        <p:spPr>
          <a:xfrm>
            <a:off x="912852" y="432700"/>
            <a:ext cx="226385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PLATFORM &amp; OBSERVABILITY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B759F6-43F9-37A2-751C-9A77C8AD0F1B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29E9D486-A70E-498D-AB72-F85CD17DDDBD}"/>
              </a:ext>
            </a:extLst>
          </p:cNvPr>
          <p:cNvSpPr/>
          <p:nvPr/>
        </p:nvSpPr>
        <p:spPr>
          <a:xfrm>
            <a:off x="912852" y="883146"/>
            <a:ext cx="90675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ArgoCD</a:t>
            </a:r>
            <a:r>
              <a:rPr kumimoji="0" lang="en-US" sz="3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Dashboard</a:t>
            </a: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98B355-75A0-5C6A-931C-7BB736902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52" y="1640059"/>
            <a:ext cx="12411181" cy="634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98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265CE-2E56-65C7-A5FC-BE29D2AEF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34822ED-2F7D-EE1A-D54B-2A96C17DFB2F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959F25-BB5B-0A34-21D0-375E1E272768}"/>
              </a:ext>
            </a:extLst>
          </p:cNvPr>
          <p:cNvSpPr/>
          <p:nvPr/>
        </p:nvSpPr>
        <p:spPr>
          <a:xfrm>
            <a:off x="676547" y="573107"/>
            <a:ext cx="90675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50"/>
              </a:lnSpc>
              <a:defRPr/>
            </a:pPr>
            <a:r>
              <a:rPr lang="en-IN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</a:rPr>
              <a:t>Domain and Endpoint Structure</a:t>
            </a:r>
            <a:endParaRPr lang="en-US" sz="3900" b="1" dirty="0">
              <a:solidFill>
                <a:srgbClr val="FFFFFF"/>
              </a:solidFill>
              <a:latin typeface="Inter Bold" pitchFamily="34" charset="0"/>
              <a:ea typeface="Inter Bold" pitchFamily="34" charset="-122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3BE188-BF3C-47DF-34C0-7C9D13D0F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657143"/>
              </p:ext>
            </p:extLst>
          </p:nvPr>
        </p:nvGraphicFramePr>
        <p:xfrm>
          <a:off x="1006475" y="3262154"/>
          <a:ext cx="12617451" cy="2103120"/>
        </p:xfrm>
        <a:graphic>
          <a:graphicData uri="http://schemas.openxmlformats.org/drawingml/2006/table">
            <a:tbl>
              <a:tblPr/>
              <a:tblGrid>
                <a:gridCol w="4205817">
                  <a:extLst>
                    <a:ext uri="{9D8B030D-6E8A-4147-A177-3AD203B41FA5}">
                      <a16:colId xmlns:a16="http://schemas.microsoft.com/office/drawing/2014/main" val="1842437083"/>
                    </a:ext>
                  </a:extLst>
                </a:gridCol>
                <a:gridCol w="4205817">
                  <a:extLst>
                    <a:ext uri="{9D8B030D-6E8A-4147-A177-3AD203B41FA5}">
                      <a16:colId xmlns:a16="http://schemas.microsoft.com/office/drawing/2014/main" val="1749584858"/>
                    </a:ext>
                  </a:extLst>
                </a:gridCol>
                <a:gridCol w="4205817">
                  <a:extLst>
                    <a:ext uri="{9D8B030D-6E8A-4147-A177-3AD203B41FA5}">
                      <a16:colId xmlns:a16="http://schemas.microsoft.com/office/drawing/2014/main" val="286192012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 kern="1200" dirty="0">
                          <a:solidFill>
                            <a:srgbClr val="FF0000"/>
                          </a:solidFill>
                          <a:latin typeface="Inter Bold" pitchFamily="34" charset="0"/>
                          <a:ea typeface="Inter Bold" pitchFamily="34" charset="-122"/>
                          <a:cs typeface="+mn-cs"/>
                        </a:rPr>
                        <a:t>Category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8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 kern="1200" dirty="0">
                          <a:solidFill>
                            <a:srgbClr val="FF0000"/>
                          </a:solidFill>
                          <a:latin typeface="Inter Bold" pitchFamily="34" charset="0"/>
                          <a:ea typeface="Inter Bold" pitchFamily="34" charset="-122"/>
                          <a:cs typeface="+mn-cs"/>
                        </a:rPr>
                        <a:t>Domain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8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 kern="1200" dirty="0">
                          <a:solidFill>
                            <a:srgbClr val="FF0000"/>
                          </a:solidFill>
                          <a:latin typeface="Inter Bold" pitchFamily="34" charset="0"/>
                          <a:ea typeface="Inter Bold" pitchFamily="34" charset="-122"/>
                          <a:cs typeface="+mn-cs"/>
                        </a:rPr>
                        <a:t>Purpose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8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706109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kern="1200" dirty="0">
                          <a:solidFill>
                            <a:schemeClr val="bg1"/>
                          </a:solidFill>
                          <a:latin typeface="Inter Bold" pitchFamily="34" charset="0"/>
                          <a:ea typeface="Inter Bold" pitchFamily="34" charset="-122"/>
                          <a:cs typeface="+mn-cs"/>
                        </a:rPr>
                        <a:t>User Access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08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8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8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1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kern="1200" dirty="0" err="1">
                          <a:solidFill>
                            <a:schemeClr val="bg1"/>
                          </a:solidFill>
                          <a:latin typeface="Inter Bold" pitchFamily="34" charset="0"/>
                          <a:ea typeface="Inter Bold" pitchFamily="34" charset="-122"/>
                          <a:cs typeface="+mn-cs"/>
                        </a:rPr>
                        <a:t>myfinagent.online</a:t>
                      </a:r>
                      <a:endParaRPr lang="en-IN" sz="1600" b="0" kern="1200" dirty="0">
                        <a:solidFill>
                          <a:schemeClr val="bg1"/>
                        </a:solidFill>
                        <a:latin typeface="Inter Bold" pitchFamily="34" charset="0"/>
                        <a:ea typeface="Inter Bold" pitchFamily="34" charset="-122"/>
                        <a:cs typeface="+mn-cs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08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8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8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1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kern="1200" dirty="0">
                          <a:solidFill>
                            <a:schemeClr val="bg1"/>
                          </a:solidFill>
                          <a:latin typeface="Inter Bold" pitchFamily="34" charset="0"/>
                          <a:ea typeface="Inter Bold" pitchFamily="34" charset="-122"/>
                          <a:cs typeface="+mn-cs"/>
                        </a:rPr>
                        <a:t>Main frontend application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608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8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8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1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51682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kern="1200" dirty="0">
                          <a:solidFill>
                            <a:schemeClr val="bg1"/>
                          </a:solidFill>
                          <a:latin typeface="Inter Bold" pitchFamily="34" charset="0"/>
                          <a:ea typeface="Inter Bold" pitchFamily="34" charset="-122"/>
                          <a:cs typeface="+mn-cs"/>
                        </a:rPr>
                        <a:t>Platform &amp; Ops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508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8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1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kern="1200" dirty="0" err="1">
                          <a:solidFill>
                            <a:schemeClr val="bg1"/>
                          </a:solidFill>
                          <a:latin typeface="Inter Bold" pitchFamily="34" charset="0"/>
                          <a:ea typeface="Inter Bold" pitchFamily="34" charset="-122"/>
                          <a:cs typeface="+mn-cs"/>
                        </a:rPr>
                        <a:t>grafana.myfinagent.online</a:t>
                      </a:r>
                      <a:endParaRPr lang="en-IN" sz="1600" b="0" kern="1200" dirty="0">
                        <a:solidFill>
                          <a:schemeClr val="bg1"/>
                        </a:solidFill>
                        <a:latin typeface="Inter Bold" pitchFamily="34" charset="0"/>
                        <a:ea typeface="Inter Bold" pitchFamily="34" charset="-122"/>
                        <a:cs typeface="+mn-cs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508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8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1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kern="1200" dirty="0">
                          <a:solidFill>
                            <a:schemeClr val="bg1"/>
                          </a:solidFill>
                          <a:latin typeface="Inter Bold" pitchFamily="34" charset="0"/>
                          <a:ea typeface="Inter Bold" pitchFamily="34" charset="-122"/>
                          <a:cs typeface="+mn-cs"/>
                        </a:rPr>
                        <a:t>Monitoring and observability dashboards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508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8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1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354418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kern="1200" dirty="0">
                          <a:solidFill>
                            <a:schemeClr val="bg1"/>
                          </a:solidFill>
                          <a:latin typeface="Inter Bold" pitchFamily="34" charset="0"/>
                          <a:ea typeface="Inter Bold" pitchFamily="34" charset="-122"/>
                          <a:cs typeface="+mn-cs"/>
                        </a:rPr>
                        <a:t>Platform &amp; Ops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kern="1200">
                          <a:solidFill>
                            <a:schemeClr val="bg1"/>
                          </a:solidFill>
                          <a:latin typeface="Inter Bold" pitchFamily="34" charset="0"/>
                          <a:ea typeface="Inter Bold" pitchFamily="34" charset="-122"/>
                          <a:cs typeface="+mn-cs"/>
                        </a:rPr>
                        <a:t>sonarqube.myfinagent.online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Inter Bold" pitchFamily="34" charset="0"/>
                          <a:ea typeface="Inter Bold" pitchFamily="34" charset="-122"/>
                          <a:cs typeface="+mn-cs"/>
                        </a:rPr>
                        <a:t>Code quality and static analysis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50569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kern="1200" dirty="0">
                          <a:solidFill>
                            <a:schemeClr val="bg1"/>
                          </a:solidFill>
                          <a:latin typeface="Inter Bold" pitchFamily="34" charset="0"/>
                          <a:ea typeface="Inter Bold" pitchFamily="34" charset="-122"/>
                          <a:cs typeface="+mn-cs"/>
                        </a:rPr>
                        <a:t>Platform &amp; Ops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7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kern="1200" dirty="0">
                          <a:solidFill>
                            <a:schemeClr val="bg1"/>
                          </a:solidFill>
                          <a:latin typeface="Inter Bold" pitchFamily="34" charset="0"/>
                          <a:ea typeface="Inter Bold" pitchFamily="34" charset="-122"/>
                          <a:cs typeface="+mn-cs"/>
                        </a:rPr>
                        <a:t>k8s.myfinagent.online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7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kern="1200" dirty="0">
                          <a:solidFill>
                            <a:schemeClr val="bg1"/>
                          </a:solidFill>
                          <a:latin typeface="Inter Bold" pitchFamily="34" charset="0"/>
                          <a:ea typeface="Inter Bold" pitchFamily="34" charset="-122"/>
                          <a:cs typeface="+mn-cs"/>
                        </a:rPr>
                        <a:t>Kubernetes dashboard / Headlamp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7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9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7452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kern="1200">
                          <a:solidFill>
                            <a:schemeClr val="bg1"/>
                          </a:solidFill>
                          <a:latin typeface="Inter Bold" pitchFamily="34" charset="0"/>
                          <a:ea typeface="Inter Bold" pitchFamily="34" charset="-122"/>
                          <a:cs typeface="+mn-cs"/>
                        </a:rPr>
                        <a:t>Identity &amp; Access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kern="1200" dirty="0" err="1">
                          <a:solidFill>
                            <a:schemeClr val="bg1"/>
                          </a:solidFill>
                          <a:latin typeface="Inter Bold" pitchFamily="34" charset="0"/>
                          <a:ea typeface="Inter Bold" pitchFamily="34" charset="-122"/>
                          <a:cs typeface="+mn-cs"/>
                        </a:rPr>
                        <a:t>keycloak.myfinagent.online</a:t>
                      </a:r>
                      <a:endParaRPr lang="en-IN" sz="1600" b="0" kern="1200" dirty="0">
                        <a:solidFill>
                          <a:schemeClr val="bg1"/>
                        </a:solidFill>
                        <a:latin typeface="Inter Bold" pitchFamily="34" charset="0"/>
                        <a:ea typeface="Inter Bold" pitchFamily="34" charset="-122"/>
                        <a:cs typeface="+mn-cs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kern="1200" dirty="0">
                          <a:solidFill>
                            <a:schemeClr val="bg1"/>
                          </a:solidFill>
                          <a:latin typeface="Inter Bold" pitchFamily="34" charset="0"/>
                          <a:ea typeface="Inter Bold" pitchFamily="34" charset="-122"/>
                          <a:cs typeface="+mn-cs"/>
                        </a:rPr>
                        <a:t>Authentication and identity management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020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4879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CBC9E-08FC-735E-9C24-64055FA2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BF63A6D-E433-F775-4386-554EF7BA342E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EE0B7D-C0C6-3D2E-7EFD-47B0227ABEC7}"/>
              </a:ext>
            </a:extLst>
          </p:cNvPr>
          <p:cNvSpPr/>
          <p:nvPr/>
        </p:nvSpPr>
        <p:spPr>
          <a:xfrm>
            <a:off x="676547" y="573107"/>
            <a:ext cx="90675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50"/>
              </a:lnSpc>
              <a:defRPr/>
            </a:pPr>
            <a:r>
              <a:rPr lang="en-IN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</a:rPr>
              <a:t>Application User Experience</a:t>
            </a:r>
          </a:p>
          <a:p>
            <a:pPr>
              <a:lnSpc>
                <a:spcPts val="4850"/>
              </a:lnSpc>
              <a:defRPr/>
            </a:pPr>
            <a:endParaRPr lang="en-US" sz="3900" b="1" dirty="0">
              <a:solidFill>
                <a:srgbClr val="FFFFFF"/>
              </a:solidFill>
              <a:latin typeface="Inter Bold" pitchFamily="34" charset="0"/>
              <a:ea typeface="Inter Bold" pitchFamily="34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5D4B3B-D530-71B1-982F-3C853CCE7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07" y="1576196"/>
            <a:ext cx="10695396" cy="61408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D22114-CCB0-0E54-0BB7-1FE0D4C03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7982" y="1576196"/>
            <a:ext cx="3196111" cy="621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297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1460" y="467320"/>
            <a:ext cx="1533644" cy="269558"/>
          </a:xfrm>
          <a:prstGeom prst="roundRect">
            <a:avLst>
              <a:gd name="adj" fmla="val 19328"/>
            </a:avLst>
          </a:prstGeom>
          <a:solidFill>
            <a:srgbClr val="0A004D"/>
          </a:solidFill>
          <a:ln/>
        </p:spPr>
      </p:sp>
      <p:sp>
        <p:nvSpPr>
          <p:cNvPr id="3" name="Text 1"/>
          <p:cNvSpPr/>
          <p:nvPr/>
        </p:nvSpPr>
        <p:spPr>
          <a:xfrm>
            <a:off x="1294448" y="513755"/>
            <a:ext cx="1347668" cy="176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CAPSTONE SUMMARY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01460" y="785217"/>
            <a:ext cx="5780127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Outcomes and Key Takeaways</a:t>
            </a:r>
            <a:endParaRPr kumimoji="0" lang="en-US" sz="3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01460" y="1451491"/>
            <a:ext cx="12227362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883579" y="3492920"/>
            <a:ext cx="12863242" cy="2501615"/>
          </a:xfrm>
          <a:prstGeom prst="roundRect">
            <a:avLst>
              <a:gd name="adj" fmla="val 5819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2" name="Text 25"/>
          <p:cNvSpPr/>
          <p:nvPr/>
        </p:nvSpPr>
        <p:spPr>
          <a:xfrm>
            <a:off x="1244918" y="3869789"/>
            <a:ext cx="201632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Improvements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1244918" y="4233168"/>
            <a:ext cx="5837634" cy="101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Implement progressive delivery with Argo Rollouts (canary/blue-green)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Extend Kyverno policies </a:t>
            </a:r>
          </a:p>
          <a:p>
            <a:pPr marL="342900" marR="0" lvl="0" indent="-34290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Add alerts in Grafana</a:t>
            </a:r>
          </a:p>
          <a:p>
            <a:pPr marL="342900" marR="0" lvl="0" indent="-34290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lang="en-US" dirty="0">
                <a:solidFill>
                  <a:srgbClr val="E5E0DF"/>
                </a:solidFill>
                <a:latin typeface="Inter" pitchFamily="34" charset="0"/>
                <a:ea typeface="Inter" pitchFamily="34" charset="-122"/>
              </a:rPr>
              <a:t>Add helm lint as well for helm repo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1089898" y="1572844"/>
            <a:ext cx="2026325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1057036" y="2100972"/>
            <a:ext cx="12689785" cy="132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This project demonstrates a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complete, enterprise-ready DevOps platform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E5E0DF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— from identity management and network segmentation to automated CI/CD pipelines and GitOps-driven deployments. The architecture is secure by default, observable by design, and scalable through pattern-driven configuration. It represents a production-grade implementation of modern cloud-native DevOps principles.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52BEC2C-7056-F60D-6B88-6B46C5518080}"/>
              </a:ext>
            </a:extLst>
          </p:cNvPr>
          <p:cNvSpPr/>
          <p:nvPr/>
        </p:nvSpPr>
        <p:spPr>
          <a:xfrm>
            <a:off x="12801600" y="7717006"/>
            <a:ext cx="1756881" cy="439373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1625</Words>
  <Application>Microsoft Office PowerPoint</Application>
  <PresentationFormat>Custom</PresentationFormat>
  <Paragraphs>226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Calibri</vt:lpstr>
      <vt:lpstr>Inter Bold</vt:lpstr>
      <vt:lpstr>Segoe WPC</vt:lpstr>
      <vt:lpstr>Inter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Lijaz Salim</cp:lastModifiedBy>
  <cp:revision>4</cp:revision>
  <dcterms:created xsi:type="dcterms:W3CDTF">2026-04-26T09:26:19Z</dcterms:created>
  <dcterms:modified xsi:type="dcterms:W3CDTF">2026-04-26T17:46:34Z</dcterms:modified>
</cp:coreProperties>
</file>